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EEEEE"/>
                </a:solidFill>
                <a:latin typeface="Calibri"/>
              </a:defRPr>
            </a:pPr>
            <a:r>
              <a:t>ЛЕКЦИЯ 1</a:t>
            </a:r>
            <a:br/>
            <a:r>
              <a:t>ЧТО ТАКОЕ СВЕТ?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EC5"/>
                </a:solidFill>
                <a:latin typeface="Calibri"/>
              </a:defRPr>
            </a:pPr>
            <a:r>
              <a:t>Оптика и лазерная физика для инженеров 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57575"/>
                </a:solidFill>
                <a:latin typeface="Calibri"/>
              </a:defRPr>
            </a:pPr>
            <a:r>
              <a:t>От фотона до ванны расплава:</a:t>
            </a:r>
            <a:br/>
            <a:r>
              <a:t>почему лазер — это не просто «яркая лампочка»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Внутренний курс • 3D-печать • Аддитивные технологии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ПЛАН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❶  Четыре заблуждения о свете  —  и почему они мешают работать с лазером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❷  Свет как энергия:  E = hν,  интенсивность,  плотность мощности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❸  Три механизма передачи энергии от луча к материалу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❹  Один график, который объясняет 80 % проблем лазерной обработки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❺  Итоги: что нужно запомнить после первой лекции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4A19"/>
                </a:solidFill>
                <a:latin typeface="Calibri"/>
              </a:defRPr>
            </a:pPr>
            <a:r>
              <a:t>ЗАБЛУЖДЕНИЕ 1: «СВЕТ — ЭТО ВОЛНА»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▪ Волновая модель: интерференция и дифракция</a:t>
            </a:r>
          </a:p>
          <a:p>
            <a:pPr>
              <a:spcAft>
                <a:spcPts val="6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▪ Фотоэффект (Герц, 1887; Эйнштейн, 1905):</a:t>
            </a:r>
          </a:p>
          <a:p>
            <a:pPr>
              <a:spcAft>
                <a:spcPts val="6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    – свет выбивает электроны из металла</a:t>
            </a:r>
          </a:p>
          <a:p>
            <a:pPr>
              <a:spcAft>
                <a:spcPts val="6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    – энергия электрона:  E_kin = hν – A</a:t>
            </a:r>
          </a:p>
          <a:p>
            <a:pPr>
              <a:spcAft>
                <a:spcPts val="6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    – важна частота, а не интенсивность</a:t>
            </a:r>
          </a:p>
          <a:p>
            <a:pPr>
              <a:spcAft>
                <a:spcPts val="600"/>
              </a:spcAft>
              <a:defRPr sz="1800">
                <a:solidFill>
                  <a:srgbClr val="EEEEEE"/>
                </a:solidFill>
                <a:latin typeface="Calibri"/>
              </a:defRPr>
            </a:pPr>
            <a:r>
              <a:t>▪ Вывод: свет — это и волна, и частица одновременно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EEEEE"/>
                </a:solidFill>
                <a:latin typeface="Calibri"/>
              </a:defRPr>
            </a:pPr>
            <a:r>
              <a:t>E_kin = hν –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EEEEE"/>
                </a:solidFill>
                <a:latin typeface="Calibri"/>
              </a:defRPr>
            </a:pPr>
            <a:r>
              <a:t>КОРПУСКУЛЯРНО-ВОЛНОВОЙ ДУАЛИЗМ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Свет — электромагнитное излучение (волна + частица)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Основные величины:  λ — длина волны,  ν — частота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Связь:  λν = c,  где c = 3×10⁸ м/с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Энергия фотона:  E_ph = hν = hc/λ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Примеры: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    – λ = 1070 нм (волоконный лазер):  E_ph ≈ 1,16 эВ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    – λ = 355 нм (УФ-лазер, SLA):  E_ph ≈ 3,49 эВ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Чем короче λ — тем больше энергия фотона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45720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EEEEE"/>
                </a:solidFill>
                <a:latin typeface="Calibri"/>
              </a:defRPr>
            </a:pPr>
            <a:r>
              <a:t>ЗАБЛУЖДЕНИЯ 2 и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4A19"/>
                </a:solidFill>
                <a:latin typeface="Calibri"/>
              </a:defRPr>
            </a:pPr>
            <a:r>
              <a:t>2. «Свет — это то, что я вижу»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Глаз:  400–700 нм (видимый диапазон)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Волоконный лазер SLM:  ~1070 нм (ближний инфракрасный, ИК)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CO₂-лазер:  10 600 нм (дальний инфракрасный, ИК)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УФ-лазер SLA:  355 нм (ультрафиолет, УФ)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Физика одна и та же — только цифры разные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4A19"/>
                </a:solidFill>
                <a:latin typeface="Calibri"/>
              </a:defRPr>
            </a:pPr>
            <a:r>
              <a:t>3. «Свет идёт по прямой»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В однородной среде — да. На практике — нет: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Луч всегда расходится (дифракция)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Есть «талия» пучка — место минимального диаметра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Преломление, отражение, рассеяние на границах и дефектах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Геометрическая оптика — приближение;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физическая оптика — реальность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EEEEE"/>
                </a:solidFill>
                <a:latin typeface="Calibri"/>
              </a:defRPr>
            </a:pPr>
            <a:r>
              <a:t>ЗАБЛУЖДЕНИЕ 4 И ВЫБОР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▪ «Свет — это просто луч»  –  недостаточно для инженера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▪ Реальный лазерный пучок характеризуется: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– распределением интенсивности (TEM₀₀ — гауссов пучок)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– поляризацией (линейная, круговая — важно для поглощения)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– когерентностью (способность интерферировать — подробнее в лекции 3)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▪ Итог:  единой модели света нет.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▪ Есть НАБОР МОДЕЛЕЙ, каждая работает в своей области: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– геометрическая оптика (лучи) → чертежи, ход лучей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– волновая оптика → дифракция, интерференция, размер пятна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– квантовая оптика → фотоэффект, поглощение, E = hν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▪ Задача инженера:  знать, какую модель включить в какой ситуации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СВЕТ КАК ЭНЕРГИЯ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Для инженера свет — это СПОСОБ ПЕРЕДАТЬ ЭНЕРГИЮ от источника к материалу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Энергия переносится электромагнитным полем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Скорость в вакууме:  c = 3×10⁸ м/с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В материале скорость меньше:  v = c/n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    n — показатель преломления (безразмерная величина)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Мощность излучения P измеряется в ваттах (Вт)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Плотность мощности (интенсивность)  I = P/S  [Вт/см²] —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    самая важная величина в лазерной обработке!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EEEEE"/>
                </a:solidFill>
                <a:latin typeface="Calibri"/>
              </a:defRPr>
            </a:pPr>
            <a:r>
              <a:t>КЛЮЧЕВЫЕ ФОРМУЛЫ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①  Энергия фотона:   E_ph = hν = hc/λ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②  Интенсивность:   I = P / S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    S = πd²/4 — площадь пятна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③  Плотность энергии:   E = I × τ</a:t>
            </a: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EEEEE"/>
                </a:solidFill>
                <a:latin typeface="Calibri"/>
              </a:defRPr>
            </a:pPr>
            <a:r>
              <a:t>④  Поглощённая мощность:   P_abs = A × 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EEEEE"/>
                </a:solidFill>
                <a:latin typeface="Calibri"/>
              </a:defRPr>
            </a:pPr>
            <a:r>
              <a:t>ПОГЛОЩЕНИЕ МАТЕРИАЛАМИ (λ = 1070 нм)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Алюминий:  ~10 %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Сталь:  ~35–40 %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Титан:  ~50–60 %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Медь:  &lt;5 %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Зависит от:  λ, состояния поверхности, температуры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Закон Бугера–Ламберта–Бера:  I(x) = I₀·e^(−αx)</a:t>
            </a:r>
          </a:p>
          <a:p>
            <a:pPr>
              <a:spcAft>
                <a:spcPts val="600"/>
              </a:spcAft>
              <a:defRPr sz="1700">
                <a:solidFill>
                  <a:srgbClr val="EEEEEE"/>
                </a:solidFill>
                <a:latin typeface="Calibri"/>
              </a:defRPr>
            </a:pPr>
            <a:r>
              <a:t>▪ Глубина проникновения:  δ = 1/α  (~10–20 нм для металлов)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EEEEE"/>
                </a:solidFill>
                <a:latin typeface="Calibri"/>
              </a:defRPr>
            </a:pPr>
            <a:r>
              <a:t>ТРИ СПОСОБА ПЕРЕДАЧИ ЭНЕРГИИ ОТ СВЕТА МАТЕРИАЛУ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Способ 1.  ФОТОВОЗБУЖДЕНИЕ ЭЛЕКТРОНОВ  (∼10⁻¹⁵ с)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Фотон поглощается → электрон переходит на высокий уровень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→ столкновения с решёткой → НАГРЕВ (тепло)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При сверхвысокой интенсивности → прямая абляция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Способ 2.  ПРЯМОЕ ВОЗБУЖДЕНИЕ КОЛЕБАНИЙ РЕШЁТКИ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ИК-излучение раскачивает атомы напрямую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Особенно эффективно для CO₂-лазера (λ = 10,6 мкм)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Для волоконного лазера (λ ≈ 1 мкм) — выражено слабее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Способ 3.  ТЕПЛОПРОВОДНОСТЬ  (∼10⁻⁶ с и дольше)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Поглощённая энергия → тепло → распространение вглубь и в стороны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Определяет размер ванны расплава, зону термического влияния (ЗТВ),</a:t>
            </a:r>
          </a:p>
          <a:p>
            <a:pPr>
              <a:spcAft>
                <a:spcPts val="600"/>
              </a:spcAft>
              <a:defRPr sz="1450">
                <a:solidFill>
                  <a:srgbClr val="EEEEEE"/>
                </a:solidFill>
                <a:latin typeface="Calibri"/>
              </a:defRPr>
            </a:pPr>
            <a:r>
              <a:t>    качество спекания порошка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12121"/>
                </a:solidFill>
                <a:latin typeface="Calibri"/>
              </a:defRPr>
            </a:pPr>
            <a:r>
              <a:t>ГРАФИК, КОТОРЫЙ ОБЪЯСНЯЕТ 80 % ПРОБЛЕМ ЛАЗЕРНОЙ ОБРАБОТКИ</a:t>
            </a:r>
          </a:p>
        </p:txBody>
      </p:sp>
      <p:pic>
        <p:nvPicPr>
          <p:cNvPr id="3" name="Picture 2" descr="graph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40080"/>
            <a:ext cx="996696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EEEEE"/>
                </a:solidFill>
                <a:latin typeface="Calibri"/>
              </a:defRPr>
            </a:pPr>
            <a:r>
              <a:t>КАК ЧИТАТЬ ГРАФИК: ВЫВОДЫ ДЛЯ SLM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Для фемтосекундных импульсов:  порог низкий, процесс атермический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Для непрерывного/квазинепрерывного режима (SLM, DLP):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– тепло успевает распространяться далеко за пятно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– критична скорость сканирования v_scan: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  * слишком медленно → широкий прогрев → потеря точности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  * слишком быстро → материал не успевает расплавиться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Материалы с высокой теплопроводностью (Al, Cu):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– требуют большей плотности мощности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– тепло «убегает» из зоны обработки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▪ Материалы с низкой теплопроводностью (сталь, титан):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– тепло локализуется → меньше энергии нужно для плавления</a:t>
            </a:r>
          </a:p>
          <a:p>
            <a:pPr>
              <a:spcAft>
                <a:spcPts val="600"/>
              </a:spcAft>
              <a:defRPr sz="1500">
                <a:solidFill>
                  <a:srgbClr val="EEEEEE"/>
                </a:solidFill>
                <a:latin typeface="Calibri"/>
              </a:defRPr>
            </a:pPr>
            <a:r>
              <a:t>    – но выше риск перегрева и деформаций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EEEEE"/>
                </a:solidFill>
                <a:latin typeface="Calibri"/>
              </a:defRPr>
            </a:pPr>
            <a:r>
              <a:t>ЧТО МЫ ПОНЯЛИ ПРО СВЕТ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①  У света нет единственной модели. Волна и частица — проекции.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②  Для инженера свет — это доставка энергии. Всё остальное — оптика.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③  Эффективность = интенсивность × поглощательная способность.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I = P/S,  P_abs = A×P,  глубина проникновения  δ = 1/α.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④  Поглощённая энергия → тепло. Скорость сканирования,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теплопроводность — это уже задачи теплопередачи.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⑤  Длительность воздействия τ критична:  от неё зависит,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    успеет ли тепло уйти из зоны обработки.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На следующей лекции:  как устроен лазерный луч внутри —</a:t>
            </a:r>
          </a:p>
          <a:p>
            <a:pPr>
              <a:spcAft>
                <a:spcPts val="600"/>
              </a:spcAft>
              <a:defRPr sz="1600">
                <a:solidFill>
                  <a:srgbClr val="EEEEEE"/>
                </a:solidFill>
                <a:latin typeface="Calibri"/>
              </a:defRPr>
            </a:pPr>
            <a:r>
              <a:t>гауссов пучок, поляризация, когерентность, M².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941832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EEEEE"/>
                </a:solidFill>
                <a:latin typeface="Calibri"/>
              </a:defRPr>
            </a:pPr>
            <a:r>
              <a:t>СПАСИБО ЗА ВНИМАНИЕ</a:t>
            </a:r>
            <a:br/>
            <a:r>
              <a:t>ГОТОВЬТЕ ВОПРОСЫ!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Calibri"/>
              </a:defRPr>
            </a:pPr>
            <a:r>
              <a:t>Следующая лекция:</a:t>
            </a:r>
            <a:br/>
            <a:r>
              <a:t>«Лазерный луч изнутри: гауссов пучок, поляризация, когерентность»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